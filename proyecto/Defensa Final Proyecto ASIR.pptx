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1D5B30-13B2-49A8-81BC-42AF2A3288ED}">
  <a:tblStyle styleId="{D11D5B30-13B2-49A8-81BC-42AF2A3288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60495" y="1126926"/>
            <a:ext cx="8070900" cy="1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75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 de </a:t>
            </a:r>
            <a:r>
              <a:rPr lang="es-ES" sz="4875" b="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s-ES" sz="4875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y</a:t>
            </a:r>
            <a:br>
              <a:rPr lang="es-E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875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4875" b="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s-ES" sz="4875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ervicios </a:t>
            </a:r>
            <a:r>
              <a:rPr lang="es-ES" sz="4875" b="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" sz="4875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entralizados</a:t>
            </a:r>
            <a:endParaRPr lang="es-ES" noProof="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386150" y="3354251"/>
            <a:ext cx="541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ALTA DISPONIBILIDAD &amp; ZERO-TOUCH</a:t>
            </a:r>
            <a:endParaRPr lang="es-ES" noProof="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071937" y="4344441"/>
            <a:ext cx="4048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0" i="0" u="none" strike="noStrike" cap="none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Diego </a:t>
            </a:r>
            <a:r>
              <a:rPr lang="es-ES" sz="1650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S.</a:t>
            </a:r>
            <a:r>
              <a:rPr lang="es-ES" sz="1650" b="0" i="0" u="none" strike="noStrike" cap="none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ES" sz="1650" b="0" i="0" u="none" strike="noStrike" cap="none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Arancón</a:t>
            </a:r>
            <a:endParaRPr lang="es-ES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528548" y="4889150"/>
            <a:ext cx="4591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CFGS Administración de Sistemas Informáticos en Red</a:t>
            </a:r>
            <a:endParaRPr lang="es-ES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917100" y="5265642"/>
            <a:ext cx="4048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IES Virgen del Espino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2025 - 2026</a:t>
            </a:r>
            <a:endParaRPr lang="es-E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47800"/>
            <a:ext cx="53340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ESCENARIO: ASIR DIEGO SOLUTIONS S.L.</a:t>
            </a:r>
            <a:endParaRPr lang="es-ES" noProof="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93764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  <a:endParaRPr lang="es-ES" noProof="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941439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PYME de consultoría tecnológica con 30 usuarios y 15 puestos de trabajo mixtos.</a:t>
            </a:r>
            <a:endParaRPr lang="es-ES" noProof="0"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47800"/>
            <a:ext cx="53340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57250" y="368051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Problemática: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Puntos únicos de fallo (SPOF) en la infraestructura actual.</a:t>
            </a:r>
            <a:endParaRPr lang="es-ES" noProof="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37197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Necesidad: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Centralización de identidades y alta disponibilidad de servicios críticos.</a:t>
            </a:r>
            <a:endParaRPr lang="es-ES" noProof="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506343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Misión: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Despliegue automatizado con mínimo RTO (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Recovery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Time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Objective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lang="es-ES" noProof="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680519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37197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06343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9802"/>
            <a:ext cx="3492549" cy="279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9802"/>
            <a:ext cx="3492549" cy="279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9802"/>
            <a:ext cx="3492549" cy="27945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OBJETIVOS ESTRATÉGICOS</a:t>
            </a:r>
            <a:endParaRPr lang="es-ES" noProof="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94225" y="346992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Disponibilidad</a:t>
            </a:r>
            <a:endParaRPr lang="es-ES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97475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Implementación de redundancia activa-pasiva en servicios de Dominio, DNS y DHCP.</a:t>
            </a:r>
            <a:endParaRPr lang="es-ES" noProof="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4572524" y="3469927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DevOps / Automati</a:t>
            </a:r>
            <a:r>
              <a:rPr lang="es-ES" sz="1800" b="1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zació</a:t>
            </a:r>
            <a:r>
              <a:rPr lang="es-ES" sz="180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lang="es-ES" noProof="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3974752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Reducción del error humano mediante el paradigma Zero-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Touch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Provisioning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ES" noProof="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8350824" y="346992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Seguridad</a:t>
            </a:r>
            <a:endParaRPr lang="es-ES" noProof="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97475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de accesos basado en roles (RBAC) y defensa en profundidad segmentada.</a:t>
            </a:r>
            <a:endParaRPr lang="es-ES" noProof="0"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81270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812702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8562" y="2812702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3707"/>
            <a:ext cx="5334000" cy="197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13707"/>
            <a:ext cx="5334000" cy="1975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ARQUITECTURA DE ALTA DISPONIBILIDAD</a:t>
            </a:r>
            <a:endParaRPr lang="es-ES" noProof="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477485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REPLICACIÓN MULTI-MASTER &amp; SINCRONIZACIÓN DE DATOS (RSYNC)</a:t>
            </a:r>
            <a:endParaRPr lang="es-ES" noProof="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2799457"/>
            <a:ext cx="495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SRV-PDC (</a:t>
            </a:r>
            <a:r>
              <a:rPr lang="es-ES" sz="1404" b="1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Principal</a:t>
            </a:r>
            <a:r>
              <a:rPr lang="es-ES" sz="1404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lang="es-ES" noProof="0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619875" y="2799457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SRV-SDC (Secundario)</a:t>
            </a:r>
            <a:endParaRPr lang="es-ES" noProof="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1190625" y="322712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1285875" y="3228082"/>
            <a:ext cx="4333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Rol: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Maestro de operaciones Active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Directory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ES" noProof="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1190625" y="350141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1285875" y="3502372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DNS/DHCP: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Nodo primario de resolución y concesión.</a:t>
            </a:r>
            <a:endParaRPr lang="es-ES" noProof="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1190625" y="377571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1285875" y="3776662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Gateway: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Enrutamiento NAT y Firewall perimetral.</a:t>
            </a:r>
            <a:endParaRPr lang="es-ES" noProof="0"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6905625" y="322712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7000875" y="3228082"/>
            <a:ext cx="4460812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Replicación: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Copia bidireccional de identidades Samba 4.</a:t>
            </a:r>
            <a:endParaRPr lang="es-ES" noProof="0"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905625" y="350141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7000875" y="3502372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DHCP </a:t>
            </a:r>
            <a:r>
              <a:rPr lang="es-ES" sz="1350" b="1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Failover</a:t>
            </a: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Protocolo de pares para contingencias.</a:t>
            </a:r>
            <a:endParaRPr lang="es-ES" noProof="0"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6905625" y="377571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s-ES" noProof="0"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7000875" y="3776662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Vigilante: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Monitorización proactiva y alertas PUSH.</a:t>
            </a:r>
            <a:endParaRPr lang="es-ES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52006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SEGMENTACIÓN LÓGICA</a:t>
            </a:r>
            <a:endParaRPr lang="es-ES" noProof="0"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144780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Aislamiento de subredes para mitigar la propagación de malware y organizar el tráfico corporativo.</a:t>
            </a:r>
            <a:endParaRPr lang="es-ES" noProof="0"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2167825"/>
            <a:ext cx="4953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Subred Linux (.10.0/24):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Infraestructura crítica y clientes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Zorin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ES" noProof="0"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2619163"/>
            <a:ext cx="49149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Subred Windows (.20.0/24):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Estaciones de trabajo Windows 11.</a:t>
            </a:r>
            <a:endParaRPr lang="es-ES" noProof="0"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838200" y="3002151"/>
            <a:ext cx="4667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Aislamiento WAN: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Clientes protegidos tras el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Router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/DC.</a:t>
            </a:r>
            <a:endParaRPr lang="es-ES" noProof="0"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216783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258499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2967989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46340"/>
            <a:ext cx="542925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5246340"/>
            <a:ext cx="5429250" cy="7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AUTOMATIZACIÓN: ZERO-TOUCH</a:t>
            </a:r>
            <a:endParaRPr lang="es-ES" noProof="0" dirty="0"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t="17123" b="157"/>
          <a:stretch/>
        </p:blipFill>
        <p:spPr>
          <a:xfrm>
            <a:off x="571500" y="2289423"/>
            <a:ext cx="11049000" cy="2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14375" y="5522565"/>
            <a:ext cx="5143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Idempotencia:</a:t>
            </a:r>
            <a:r>
              <a:rPr lang="es-ES" sz="10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Los scripts detectan estados previos para evitar corrupciones.</a:t>
            </a:r>
            <a:endParaRPr lang="es-ES" noProof="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334125" y="5522565"/>
            <a:ext cx="514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Experiencia </a:t>
            </a:r>
            <a:r>
              <a:rPr lang="es-ES" sz="1050" b="1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s-ES" sz="10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isual:</a:t>
            </a:r>
            <a:r>
              <a:rPr lang="es-ES" sz="10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Barras de carga asíncronas y ejecución silenciosa en clientes.</a:t>
            </a:r>
            <a:endParaRPr lang="es-E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ECOSISTEMA DE SERVICIOS</a:t>
            </a:r>
            <a:endParaRPr lang="es-ES" noProof="0" dirty="0"/>
          </a:p>
        </p:txBody>
      </p:sp>
      <p:graphicFrame>
        <p:nvGraphicFramePr>
          <p:cNvPr id="178" name="Google Shape;178;p19"/>
          <p:cNvGraphicFramePr/>
          <p:nvPr>
            <p:extLst>
              <p:ext uri="{D42A27DB-BD31-4B8C-83A1-F6EECF244321}">
                <p14:modId xmlns:p14="http://schemas.microsoft.com/office/powerpoint/2010/main" val="4025514937"/>
              </p:ext>
            </p:extLst>
          </p:nvPr>
        </p:nvGraphicFramePr>
        <p:xfrm>
          <a:off x="571500" y="2543175"/>
          <a:ext cx="11049000" cy="2838250"/>
        </p:xfrm>
        <a:graphic>
          <a:graphicData uri="http://schemas.openxmlformats.org/drawingml/2006/table">
            <a:tbl>
              <a:tblPr firstRow="1" bandRow="1">
                <a:noFill/>
                <a:tableStyleId>{D11D5B30-13B2-49A8-81BC-42AF2A3288ED}</a:tableStyleId>
              </a:tblPr>
              <a:tblGrid>
                <a:gridCol w="192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Área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Tecnología Implementada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Impacto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Identidad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Samba 4 Active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Directory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SSO Multiplataforma y Kerberos.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ISC-DHCP-Server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Failover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Continuidad en asignación de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IPs</a:t>
                      </a: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Colaboración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LAMP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Stack</a:t>
                      </a: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(Intranet)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Portal PHP/MySQL con seguridad HTTPS.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1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Resiliencia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Cron +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Rsync</a:t>
                      </a: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+ Samba-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tool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Réplica de datos y </a:t>
                      </a:r>
                      <a:r>
                        <a:rPr lang="es-ES" sz="1350" b="0" i="0" u="none" strike="noStrike" cap="none" noProof="0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Backups</a:t>
                      </a:r>
                      <a:r>
                        <a:rPr lang="es-ES" sz="1350" b="0" i="0" u="none" strike="noStrike" cap="none" noProof="0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online.</a:t>
                      </a:r>
                      <a:endParaRPr lang="es-ES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9" name="Google Shape;179;p19"/>
          <p:cNvSpPr/>
          <p:nvPr/>
        </p:nvSpPr>
        <p:spPr>
          <a:xfrm>
            <a:off x="571500" y="3658492"/>
            <a:ext cx="19264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497931" y="3658492"/>
            <a:ext cx="405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549181" y="3658492"/>
            <a:ext cx="50713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228058"/>
            <a:ext cx="19264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497931" y="4228058"/>
            <a:ext cx="405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549181" y="4228058"/>
            <a:ext cx="50713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4797623"/>
            <a:ext cx="19264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497931" y="4797623"/>
            <a:ext cx="405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549181" y="4797623"/>
            <a:ext cx="50713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5367188"/>
            <a:ext cx="19264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497931" y="5367188"/>
            <a:ext cx="405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549181" y="5367188"/>
            <a:ext cx="50713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02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SEGURIDAD: DEFENSA EN PROFUNDIDAD</a:t>
            </a:r>
            <a:endParaRPr lang="es-ES" noProof="0" dirty="0"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002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572000" y="3104257"/>
            <a:ext cx="704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IAM &amp; RBAC: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 de acceso por departamentos; privilegios escalonados.</a:t>
            </a:r>
            <a:endParaRPr lang="es-ES" noProof="0"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4572000" y="3521422"/>
            <a:ext cx="704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Hardening</a:t>
            </a: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Bypass SSL para alertas API, bastionado de servicios y Firewall Default-DROP.</a:t>
            </a:r>
            <a:endParaRPr lang="es-ES" noProof="0" dirty="0"/>
          </a:p>
        </p:txBody>
      </p:sp>
      <p:sp>
        <p:nvSpPr>
          <p:cNvPr id="201" name="Google Shape;201;p20"/>
          <p:cNvSpPr txBox="1"/>
          <p:nvPr/>
        </p:nvSpPr>
        <p:spPr>
          <a:xfrm>
            <a:off x="4572000" y="3938587"/>
            <a:ext cx="704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Confidencialidad: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Redirección dinámica HTTPS y permisos avanzados (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Sticky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Bit).</a:t>
            </a:r>
            <a:endParaRPr lang="es-ES" noProof="0"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0" y="4355752"/>
            <a:ext cx="704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Auditoría: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Logs centralizados e inmutables en servidores y clientes.</a:t>
            </a:r>
            <a:endParaRPr lang="es-ES" noProof="0"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4286250" y="31042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4286250" y="352142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4286250" y="393858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4286250" y="435575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VIGILANCIA PROACTIVA (TELEGRAM)</a:t>
            </a:r>
            <a:endParaRPr lang="es-ES" noProof="0"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2905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"Vigilante" del SDC</a:t>
            </a:r>
            <a:endParaRPr lang="es-ES" noProof="0"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335280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Demonio de monitorización temprana que informa al administrador en tiempo real.</a:t>
            </a:r>
            <a:endParaRPr lang="es-ES" noProof="0" dirty="0"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47800"/>
            <a:ext cx="53340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57250" y="40918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Detección: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Monitoriza el latido (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Heartbeat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del PDC.</a:t>
            </a:r>
            <a:endParaRPr lang="es-ES" noProof="0"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857250" y="450904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Anti-Spam: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Lógica de "Archivo Candado" para evitar saturación.</a:t>
            </a:r>
            <a:endParaRPr lang="es-ES" noProof="0" dirty="0"/>
          </a:p>
        </p:txBody>
      </p:sp>
      <p:sp>
        <p:nvSpPr>
          <p:cNvPr id="218" name="Google Shape;218;p21"/>
          <p:cNvSpPr txBox="1"/>
          <p:nvPr/>
        </p:nvSpPr>
        <p:spPr>
          <a:xfrm>
            <a:off x="857250" y="492621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Notificaciones: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Alertas PUSH mediante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s-ES" sz="1350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Telegram</a:t>
            </a:r>
            <a:r>
              <a:rPr lang="es-E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ES" noProof="0" dirty="0"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409188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50904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49262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i="0" u="none" strike="noStrike" cap="none" noProof="0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lang="es-ES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INTEGRACIÓN MULTIPLATAFORMA</a:t>
            </a:r>
            <a:endParaRPr lang="es-ES" noProof="0" dirty="0"/>
          </a:p>
        </p:txBody>
      </p:sp>
      <p:sp>
        <p:nvSpPr>
          <p:cNvPr id="228" name="Google Shape;228;p22"/>
          <p:cNvSpPr txBox="1"/>
          <p:nvPr/>
        </p:nvSpPr>
        <p:spPr>
          <a:xfrm>
            <a:off x="436959" y="4643437"/>
            <a:ext cx="56507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Zorin</a:t>
            </a:r>
            <a:r>
              <a:rPr lang="es-ES" sz="1404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OS</a:t>
            </a:r>
            <a:endParaRPr lang="es-ES" noProof="0"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5062537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Integración nativa con SSSD, montaje dinámico mediante </a:t>
            </a:r>
            <a:r>
              <a:rPr lang="es-ES" sz="1125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pam_mount</a:t>
            </a:r>
            <a:r>
              <a:rPr lang="es-ES" sz="112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branding corporativo vía GIO.</a:t>
            </a:r>
            <a:endParaRPr lang="es-ES" noProof="0"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6104334" y="4643437"/>
            <a:ext cx="56507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Windows 11</a:t>
            </a:r>
            <a:endParaRPr lang="es-ES" noProof="0" dirty="0"/>
          </a:p>
        </p:txBody>
      </p:sp>
      <p:sp>
        <p:nvSpPr>
          <p:cNvPr id="231" name="Google Shape;231;p22"/>
          <p:cNvSpPr txBox="1"/>
          <p:nvPr/>
        </p:nvSpPr>
        <p:spPr>
          <a:xfrm>
            <a:off x="6238875" y="5062537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PowerShell </a:t>
            </a:r>
            <a:r>
              <a:rPr lang="es-ES" sz="1125" b="0" i="0" u="none" strike="noStrike" cap="none" noProof="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Automation</a:t>
            </a:r>
            <a:r>
              <a:rPr lang="es-ES" sz="112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mapeo invisible mediante VBScript y acceso directo a red persistente.</a:t>
            </a:r>
            <a:endParaRPr lang="es-ES" noProof="0" dirty="0"/>
          </a:p>
        </p:txBody>
      </p:sp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53816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71687"/>
            <a:ext cx="53816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44429"/>
            <a:ext cx="5334000" cy="95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244429"/>
            <a:ext cx="5334000" cy="95994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i="0" u="none" strike="noStrike" cap="none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RENTABILIDAD Y AHORRO</a:t>
            </a:r>
            <a:endParaRPr lang="es-ES" noProof="0" dirty="0"/>
          </a:p>
        </p:txBody>
      </p:sp>
      <p:sp>
        <p:nvSpPr>
          <p:cNvPr id="242" name="Google Shape;242;p23"/>
          <p:cNvSpPr txBox="1"/>
          <p:nvPr/>
        </p:nvSpPr>
        <p:spPr>
          <a:xfrm>
            <a:off x="762000" y="4434929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3.500€ +</a:t>
            </a:r>
            <a:endParaRPr lang="es-ES" noProof="0" dirty="0">
              <a:solidFill>
                <a:schemeClr val="lt1"/>
              </a:solidFill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62000" y="4800600"/>
            <a:ext cx="4953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Ahorro directo en licencias</a:t>
            </a:r>
            <a:endParaRPr lang="es-ES" noProof="0" dirty="0">
              <a:solidFill>
                <a:schemeClr val="lt1"/>
              </a:solidFill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6477000" y="4434929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8.084€</a:t>
            </a:r>
            <a:endParaRPr lang="es-ES" noProof="0" dirty="0">
              <a:solidFill>
                <a:schemeClr val="lt1"/>
              </a:solidFill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6477000" y="4800600"/>
            <a:ext cx="4953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Beneficio </a:t>
            </a:r>
            <a:r>
              <a:rPr lang="es-ES" sz="1050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-ES" sz="1050" b="0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eto </a:t>
            </a:r>
            <a:r>
              <a:rPr lang="es-ES" sz="1050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s-ES" sz="1050" b="0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royectado</a:t>
            </a:r>
            <a:endParaRPr lang="es-ES" noProof="0" dirty="0">
              <a:solidFill>
                <a:schemeClr val="lt1"/>
              </a:solidFill>
            </a:endParaRPr>
          </a:p>
        </p:txBody>
      </p:sp>
      <p:pic>
        <p:nvPicPr>
          <p:cNvPr id="246" name="Google Shape;246;p23" descr="pero quita el titulo y los cuadros de abajo"/>
          <p:cNvPicPr preferRelativeResize="0"/>
          <p:nvPr/>
        </p:nvPicPr>
        <p:blipFill rotWithShape="1">
          <a:blip r:embed="rId6">
            <a:alphaModFix/>
          </a:blip>
          <a:srcRect t="19100" b="57670"/>
          <a:stretch/>
        </p:blipFill>
        <p:spPr>
          <a:xfrm>
            <a:off x="571500" y="1333501"/>
            <a:ext cx="11049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3525678" y="1151632"/>
            <a:ext cx="514064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 lang="es-ES" noProof="0"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4143375" y="2866132"/>
            <a:ext cx="444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4" b="1" i="0" u="none" strike="noStrike" cap="none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Hoja de </a:t>
            </a:r>
            <a:r>
              <a:rPr lang="es-ES" sz="1404" b="1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s-ES" sz="1404" b="1" i="0" u="none" strike="noStrike" cap="none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uta de </a:t>
            </a:r>
            <a:r>
              <a:rPr lang="es-ES" sz="1404" b="1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s-ES" sz="1404" b="1" i="0" u="none" strike="noStrike" cap="none" noProof="0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ejora</a:t>
            </a:r>
            <a:endParaRPr lang="es-ES" noProof="0"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4143375" y="3332850"/>
            <a:ext cx="45231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 Integración de SIEM/XDR (</a:t>
            </a:r>
            <a:r>
              <a:rPr lang="es-ES" sz="1350" b="0" i="0" u="none" strike="noStrike" cap="none" noProof="0" dirty="0" err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Wazuh</a:t>
            </a: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es-E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• Implementación de MFA (Multi-Factor </a:t>
            </a:r>
            <a:r>
              <a:rPr lang="es-ES" sz="1350" b="0" i="0" u="none" strike="noStrike" cap="none" noProof="0" dirty="0" err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Authentication</a:t>
            </a: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es-E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• Despliegue de </a:t>
            </a:r>
            <a:r>
              <a:rPr lang="es-ES" sz="1350" noProof="0" dirty="0" err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s-ES" sz="1350" b="0" i="0" u="none" strike="noStrike" cap="none" noProof="0" dirty="0" err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ackup</a:t>
            </a: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ES" sz="1350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íbrido (Cloud S3 </a:t>
            </a:r>
            <a:r>
              <a:rPr lang="es-ES" sz="1350" b="0" i="0" u="none" strike="noStrike" cap="none" noProof="0" dirty="0" err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Sync</a:t>
            </a:r>
            <a:r>
              <a:rPr lang="es-ES" sz="1350" b="0" i="0" u="none" strike="noStrike" cap="none" noProof="0" dirty="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lang="es-ES" noProof="0"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4595812" y="5260627"/>
            <a:ext cx="3000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 i="0" u="none" strike="noStrike" cap="none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Diego S. </a:t>
            </a:r>
            <a:r>
              <a:rPr lang="es-ES" sz="1350" b="0" i="0" u="none" strike="noStrike" cap="none" noProof="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Arancón</a:t>
            </a:r>
            <a:endParaRPr lang="es-ES" noProof="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71500" y="5715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50" b="1" noProof="0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Repositorio de imágenes</a:t>
            </a:r>
            <a:endParaRPr lang="es-ES" noProof="0" dirty="0"/>
          </a:p>
        </p:txBody>
      </p:sp>
      <p:sp>
        <p:nvSpPr>
          <p:cNvPr id="262" name="Google Shape;262;p25"/>
          <p:cNvSpPr/>
          <p:nvPr/>
        </p:nvSpPr>
        <p:spPr>
          <a:xfrm>
            <a:off x="571500" y="14478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24306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21543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00020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98306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24211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4211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2059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2059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990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990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49735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9735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5758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5758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63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159067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https://static.vecteezy.com/system/resources/previews/060/691/683/non_2x/large-modern-server-rack-filled-with-various-networking-equipment-and-servers-illuminated-with-blue-led-lights-showcasing-advanced-technology-and-data-management-capabilities-png.png</a:t>
            </a:r>
            <a:endParaRPr lang="es-ES" noProof="0" dirty="0"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2034480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 lang="es-ES" noProof="0" dirty="0"/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800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25735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https://img.freepik.com/free-vector/isometric-networking-connection-internet-network-topology-concept-server-room_39422-791.jpg</a:t>
            </a:r>
            <a:endParaRPr lang="es-ES" noProof="0" dirty="0"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2819251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 lang="es-ES" noProof="0" dirty="0"/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48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66875" y="335830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https://png.pngtree.com/png-clipart/20250216/original/pngtree-green-blue-shield-security-or-protection-icon-png-image_19800063.png</a:t>
            </a:r>
            <a:endParaRPr lang="es-ES" noProof="0"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3604021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 lang="es-ES" noProof="0" dirty="0"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487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414307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https://upload.wikimedia.org/wikipedia/commons/thumb/8/83/Telegram_2019_Logo.svg/960px-Telegram_2019_Logo.svg.png?utm_source=commons.wikimedia.org&amp;utm_campaign=index&amp;utm_content=thumbnail&amp;_=20231105064641</a:t>
            </a:r>
            <a:endParaRPr lang="es-ES" noProof="0" dirty="0"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4586882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commons.wikimedia.org</a:t>
            </a:r>
            <a:endParaRPr lang="es-ES" noProof="0" dirty="0"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324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512593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https://forum.zorin.com/uploads/default/original/3X/2/9/2963a3968849cccfb77f5d85795c3e15e2fbb4bc.jpeg</a:t>
            </a:r>
            <a:endParaRPr lang="es-ES" noProof="0" dirty="0"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5371653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forum.zorin.com</a:t>
            </a:r>
            <a:endParaRPr lang="es-ES" noProof="0" dirty="0"/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60163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66875" y="59107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75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https://upload.wikimedia.org/wikipedia/commons/thumb/e/e6/Windows_11_logo.svg/3840px-Windows_11_logo.svg.png?utm_source=commons.wikimedia.org&amp;utm_campaign=index&amp;utm_content=thumbnail</a:t>
            </a:r>
            <a:endParaRPr lang="es-ES" noProof="0" dirty="0"/>
          </a:p>
        </p:txBody>
      </p:sp>
      <p:sp>
        <p:nvSpPr>
          <p:cNvPr id="294" name="Google Shape;294;p25"/>
          <p:cNvSpPr txBox="1"/>
          <p:nvPr/>
        </p:nvSpPr>
        <p:spPr>
          <a:xfrm>
            <a:off x="1666875" y="6354514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Fuente: </a:t>
            </a:r>
            <a:r>
              <a:rPr lang="es-ES" sz="1200" b="0" i="0" u="none" strike="noStrike" cap="none" noProof="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commons.wikimedia.org</a:t>
            </a:r>
            <a:endParaRPr lang="es-E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799</Words>
  <Application>Microsoft Office PowerPoint</Application>
  <PresentationFormat>Panorámica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Lato</vt:lpstr>
      <vt:lpstr>Poppins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SOLLEIRO ARANCON</cp:lastModifiedBy>
  <cp:revision>3</cp:revision>
  <dcterms:modified xsi:type="dcterms:W3CDTF">2026-05-19T10:31:01Z</dcterms:modified>
</cp:coreProperties>
</file>